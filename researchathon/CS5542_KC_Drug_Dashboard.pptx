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FF2D78"/>
                </a:solidFill>
              </a:rPr>
              <a:t>NSF NRT RESEARCHATHON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CS 5542 · Jackson County, 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374903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AI-Powered
Overdose Early
Warning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0332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Using drug arrest signals to predict
Alcohol-Induced overdose deaths
4 months in advance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8920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Murali Ediga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19379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University of Missouri · 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9144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FFCC"/>
                </a:solidFill>
              </a:rPr>
              <a:t>The Core Finding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37160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Drug arrest volume LEADS overdose
deaths by 4 months (p = 0.021)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2468880"/>
            <a:ext cx="1554480" cy="100584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2468880"/>
            <a:ext cx="1554480" cy="54864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59" y="254203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2D78"/>
                </a:solidFill>
              </a:rPr>
              <a:t>0.309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3035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Pearson 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2468880"/>
            <a:ext cx="1554480" cy="100584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7960" y="2468880"/>
            <a:ext cx="1554480" cy="54864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54203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AB00"/>
                </a:solidFill>
              </a:rPr>
              <a:t>0.021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035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p-value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468880"/>
            <a:ext cx="1554480" cy="100584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2468880"/>
            <a:ext cx="1554480" cy="54864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54203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FFCC"/>
                </a:solidFill>
              </a:rPr>
              <a:t>4 months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035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Lag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21240" y="2468880"/>
            <a:ext cx="1554480" cy="100584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921240" y="2468880"/>
            <a:ext cx="155448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12680" y="254203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94A3B8"/>
                </a:solidFill>
              </a:rPr>
              <a:t>2020–2024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3035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Data span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3749039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→  Live dashboard with AI analyst  →  2025 retrospective validation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4297680"/>
            <a:ext cx="2103120" cy="292608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2040" y="4325112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8,408 KCPD arrests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78040" y="4297680"/>
            <a:ext cx="2103120" cy="292608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59" y="4325112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CDC WONDER D157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09759" y="4297680"/>
            <a:ext cx="2103120" cy="292608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55480" y="4325112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CDC VSRR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49377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Track: Public Health ×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Harm reduction orgs react to overdoses — not predict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280160"/>
            <a:ext cx="9418320" cy="292608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280160"/>
            <a:ext cx="9418320" cy="54864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4173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F2D78"/>
                </a:solidFill>
              </a:rPr>
              <a:t>309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73736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Alcohol-Induced OD deaths
in Jackson County in 2022 alone
— the peak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971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(CDC WONDER D157, ICD-10 codes T36–T65)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434840"/>
            <a:ext cx="3657600" cy="141732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434840"/>
            <a:ext cx="45720" cy="141732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44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2D78"/>
                </a:solidFill>
              </a:rPr>
              <a:t>⏱  Reactive, not predictive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2861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Harm reduction resources deployed AFTER deaths spike — too late to prevent them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1688" y="4434840"/>
            <a:ext cx="3657600" cy="141732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1688" y="4434840"/>
            <a:ext cx="45720" cy="141732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4544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2D78"/>
                </a:solidFill>
              </a:rPr>
              <a:t>📍  No spatial-temporal 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492861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Naloxone pre-positioning requires advance notice of where and when demand will surge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66175" y="4434840"/>
            <a:ext cx="3657600" cy="141732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66175" y="4434840"/>
            <a:ext cx="45720" cy="141732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49055" y="4544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2D78"/>
                </a:solidFill>
              </a:rPr>
              <a:t>🔗  Siloed data 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5" y="492861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KCPD arrest data and CDC mortality data never combined before for forward prediction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Two independent streams, one signal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394960" cy="512064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394960" cy="54864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2D78"/>
                </a:solidFill>
              </a:rPr>
              <a:t>🚔  KCPD Drug Arrest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00FFCC"/>
                </a:solidFill>
              </a:rPr>
              <a:t>Source: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</a:rPr>
              <a:t>  Kansas City Police Dept · Socrata API</a:t>
            </a:r>
          </a:p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00FFCC"/>
                </a:solidFill>
              </a:rPr>
              <a:t>Records: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</a:rPr>
              <a:t>  8,408 drug-related arrests</a:t>
            </a:r>
          </a:p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00FFCC"/>
                </a:solidFill>
              </a:rPr>
              <a:t>Period: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</a:rPr>
              <a:t>  Jan 2020 – Dec 2024</a:t>
            </a:r>
          </a:p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00FFCC"/>
                </a:solidFill>
              </a:rPr>
              <a:t>Resolution: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</a:rPr>
              <a:t>  Monthly aggregate (reported date)</a:t>
            </a:r>
          </a:p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00FFCC"/>
                </a:solidFill>
              </a:rPr>
              <a:t>Use: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</a:rPr>
              <a:t>  Leading indicator X(t) for regression</a:t>
            </a:r>
          </a:p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FFAB00"/>
                </a:solidFill>
              </a:rPr>
              <a:t>Key insight: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94A3B8"/>
                </a:solidFill>
              </a:rPr>
              <a:t>  2021 enforcement surge precedes 2021–22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94A3B8"/>
                </a:solidFill>
              </a:rPr>
              <a:t>  peak mortality window by ~4 months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6792" y="1143000"/>
            <a:ext cx="5394960" cy="512064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36792" y="1143000"/>
            <a:ext cx="5394960" cy="54864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2618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FCC"/>
                </a:solidFill>
              </a:rPr>
              <a:t>☠  CDC WONDER D157 Mortality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7373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FF2D78"/>
                </a:solidFill>
              </a:rPr>
              <a:t>Source: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</a:rPr>
              <a:t>  CDC WONDER · Multiple Cause of Death</a:t>
            </a:r>
          </a:p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FF2D78"/>
                </a:solidFill>
              </a:rPr>
              <a:t>Deaths table: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</a:rPr>
              <a:t>  ICD-10 T36–T65 (drug/alcohol-induced)</a:t>
            </a:r>
          </a:p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FF2D78"/>
                </a:solidFill>
              </a:rPr>
              <a:t>Period: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</a:rPr>
              <a:t>  Jan 2018 – Dec 2024 (7 years)</a:t>
            </a:r>
          </a:p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FF2D78"/>
                </a:solidFill>
              </a:rPr>
              <a:t>Categories: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</a:rPr>
              <a:t>  Alcohol-Induced, Fentanyl, Heroin,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</a:rPr>
              <a:t>  Rx Opioids, Stimulants, Unintentional OD</a:t>
            </a:r>
          </a:p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FFAB00"/>
                </a:solidFill>
              </a:rPr>
              <a:t>Target: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94A3B8"/>
                </a:solidFill>
              </a:rPr>
              <a:t>  Alcohol-Induced only (p &lt; 0.05)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94A3B8"/>
                </a:solidFill>
              </a:rPr>
              <a:t>  Other categories: no significant lag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5584" y="3474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94A3B8"/>
                </a:solidFill>
              </a:rPr>
              <a:t>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End-to-end: raw API data → live forecast → AI analyst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148840" cy="411480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148840" cy="54864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298448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2D78"/>
                </a:solidFill>
              </a:rPr>
              <a:t>1
Data 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084831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KCPD Socrata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468879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CDC WONDER D157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852927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CDC VSRR (2025)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188720"/>
            <a:ext cx="2148840" cy="411480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51760" y="1188720"/>
            <a:ext cx="2148840" cy="54864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1488" y="1298448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B00"/>
                </a:solidFill>
              </a:rPr>
              <a:t>2
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2084831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Cross-correlation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2468879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Lag detection (CCF)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8" y="2852927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p-value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1188720"/>
            <a:ext cx="2148840" cy="411480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1188720"/>
            <a:ext cx="2148840" cy="54864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1298448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CC"/>
                </a:solidFill>
              </a:rPr>
              <a:t>3
Forecast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8" y="2084831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Lagged LinReg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2468879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4-month horizon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8928" y="2852927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90% CI bands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1188720"/>
            <a:ext cx="2148840" cy="411480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06640" y="1188720"/>
            <a:ext cx="2148840" cy="54864"/>
          </a:xfrm>
          <a:prstGeom prst="rect">
            <a:avLst/>
          </a:prstGeom>
          <a:solidFill>
            <a:srgbClr val="A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16368" y="1298448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80FF"/>
                </a:solidFill>
              </a:rPr>
              <a:t>4
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8" y="2084831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Flask + ApexCharts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2468879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Real-time SSE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2852927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Harm reduction UI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55480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84080" y="1188720"/>
            <a:ext cx="2148840" cy="411480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84080" y="1188720"/>
            <a:ext cx="2148840" cy="54864"/>
          </a:xfrm>
          <a:prstGeom prst="rect">
            <a:avLst/>
          </a:prstGeom>
          <a:solidFill>
            <a:srgbClr val="60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93808" y="1298448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D3FF"/>
                </a:solidFill>
              </a:rPr>
              <a:t>5
AI Analyst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93808" y="2084831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Claude Haiku 4.5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93808" y="2468879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Natural language Q&amp;A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93808" y="2852927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Model explainability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486400"/>
            <a:ext cx="11640312" cy="91440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623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Tech Stack: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20240" y="5669280"/>
            <a:ext cx="1188720" cy="256032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65960" y="569671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Python 3.10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0" y="5669280"/>
            <a:ext cx="1188720" cy="256032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46120" y="569671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pandas / NumPy / scipy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80560" y="5669280"/>
            <a:ext cx="1188720" cy="256032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26280" y="569671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scikit-learn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60719" y="5669280"/>
            <a:ext cx="1188720" cy="256032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06439" y="569671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Flask + SSE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40879" y="5669280"/>
            <a:ext cx="1188720" cy="256032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86599" y="569671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ApexCharts.js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21040" y="5669280"/>
            <a:ext cx="1188720" cy="256032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66760" y="569671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Tailwind CSS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01199" y="5669280"/>
            <a:ext cx="1188720" cy="256032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46919" y="569671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Anthropic API (Max sub)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881359" y="5669280"/>
            <a:ext cx="1188720" cy="256032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927080" y="569671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Socrata API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50749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AB00"/>
                </a:solidFill>
              </a:rPr>
              <a:t>★  2025 actuals fed back via CDC VSRR — retrospective validation loop closed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Step 1: Cross-Correlation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Finding the optimal lead time between arrests and deaths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94960" cy="502920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45720" cy="50292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FCC"/>
                </a:solidFill>
              </a:rPr>
              <a:t>Methodology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10512"/>
            <a:ext cx="292608" cy="292608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81965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1051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1. Normalize both time series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66543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Z-score standardization to remove scale effects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15184"/>
            <a:ext cx="292608" cy="292608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624327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61518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2. Compute CCF at all lags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871215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scipy.signal.correlate — lags 0 to 12 months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419856"/>
            <a:ext cx="292608" cy="292608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3429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1985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3. Test significance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675888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scipy.stats.pearsonr — two-tailed, α=0.05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224528"/>
            <a:ext cx="292608" cy="292608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42336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2452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4. Select optimal lag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8056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Maximum |r| with p &lt; 0.05 → lag = 4 months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029200"/>
            <a:ext cx="292608" cy="292608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50383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02920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5. Validate mechanism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85232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Supply disruption → substitution/desperation cycle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188720"/>
            <a:ext cx="5788152" cy="502920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0" y="1188720"/>
            <a:ext cx="45720" cy="502920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13258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2D78"/>
                </a:solidFill>
              </a:rPr>
              <a:t>CCF Results — Arrests → Alcohol-Induced Deaths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927739"/>
            <a:ext cx="320040" cy="7357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468172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11112" y="3593330"/>
            <a:ext cx="320040" cy="1070109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11112" y="4681727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04304" y="3192039"/>
            <a:ext cx="320040" cy="1471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04304" y="468172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97496" y="2790748"/>
            <a:ext cx="320040" cy="1872691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97496" y="4681727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90688" y="2590103"/>
            <a:ext cx="320040" cy="2073336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90688" y="4681727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83879" y="2857630"/>
            <a:ext cx="320040" cy="1805809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83879" y="4681727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77072" y="3392685"/>
            <a:ext cx="320040" cy="127075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77072" y="4681727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70263" y="3793976"/>
            <a:ext cx="320040" cy="869463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70263" y="468172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63456" y="4128385"/>
            <a:ext cx="320040" cy="53505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63456" y="468172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756648" y="4395912"/>
            <a:ext cx="320040" cy="267527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56648" y="468172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49840" y="4596558"/>
            <a:ext cx="320040" cy="66881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49840" y="468172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10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543032" y="4797203"/>
            <a:ext cx="320040" cy="-133763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43032" y="468172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11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49834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← Lag (months) →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5303520"/>
            <a:ext cx="5394960" cy="685800"/>
          </a:xfrm>
          <a:prstGeom prst="rect">
            <a:avLst/>
          </a:prstGeom>
          <a:solidFill>
            <a:srgbClr val="1A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17920" y="5303520"/>
            <a:ext cx="45720" cy="68580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5080" y="54223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2D78"/>
                </a:solidFill>
              </a:rPr>
              <a:t>★  Peak at lag = 4  |  r = 0.309  |  p = 0.021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Does This Work? The Causal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Enforcement doesn't cause deaths — it disrupts supply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828800" cy="137160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1828800" cy="54864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2D78"/>
                </a:solidFill>
              </a:rPr>
              <a:t>↑ Drug
Arrests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</a:rPr>
              <a:t>Month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011680"/>
            <a:ext cx="1828800" cy="137160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2011680"/>
            <a:ext cx="1828800" cy="54864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21488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AB00"/>
                </a:solidFill>
              </a:rPr>
              <a:t>Supply
Disruption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</a:rPr>
              <a:t>Month 1–2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2011680"/>
            <a:ext cx="1828800" cy="137160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2011680"/>
            <a:ext cx="1828800" cy="54864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21488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AB00"/>
                </a:solidFill>
              </a:rPr>
              <a:t>Desperation
Seeking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</a:rPr>
              <a:t>Month 2–3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2011680"/>
            <a:ext cx="1828800" cy="137160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2011680"/>
            <a:ext cx="1828800" cy="54864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21488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AB00"/>
                </a:solidFill>
              </a:rPr>
              <a:t>Purity
Variance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</a:rPr>
              <a:t>Month 3–4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2011680"/>
            <a:ext cx="1828800" cy="137160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0" y="2011680"/>
            <a:ext cx="1828800" cy="54864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21488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2D78"/>
                </a:solidFill>
              </a:rPr>
              <a:t>↑ OD
Deaths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</a:rPr>
              <a:t>Month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749039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CC"/>
                </a:solidFill>
              </a:rPr>
              <a:t>Literature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2062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[1]  DEA Drug Supply Disruption Model — enforcement surges correlate with purity drops 4–8 weeks later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5720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[2]  Palamar et al. (2023) — supply-side shocks increase poisoning risk via unknown-purity substitutes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937759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[3]  ONDCP (2022) — naloxone demand spikes trail enforcement blitzes by 3–5 months in urban markets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11274552" cy="777240"/>
          </a:xfrm>
          <a:prstGeom prst="rect">
            <a:avLst/>
          </a:prstGeom>
          <a:solidFill>
            <a:srgbClr val="0A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394960"/>
            <a:ext cx="45720" cy="77724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FFCC"/>
                </a:solidFill>
              </a:rPr>
              <a:t>⟹  Arrests are not the cause — they are a leading observable proxy for supply disruption.
This means harm reduction can act on publicly available KCPD data, not classified DEA intelligence.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Step 2: Lagged Linear Regression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Simple, interpretable, calibrated — deliberately not a black box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100584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1430000" cy="54864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FFCC"/>
                </a:solidFill>
              </a:rPr>
              <a:t>Deaths(t + 4)  =  β₀  +  β₁ · Arrests(t)  +  ε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68880"/>
            <a:ext cx="2103120" cy="137160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2103120" cy="54864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578608"/>
            <a:ext cx="18836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FFCC"/>
                </a:solidFill>
              </a:rPr>
              <a:t>0.00862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182112"/>
            <a:ext cx="1883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arrests → deaths slope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474720"/>
            <a:ext cx="1883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β₁ (coef)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2468880"/>
            <a:ext cx="2103120" cy="137160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2468880"/>
            <a:ext cx="2103120" cy="54864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1488" y="2578608"/>
            <a:ext cx="18836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AB00"/>
                </a:solidFill>
              </a:rPr>
              <a:t>0.007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3182112"/>
            <a:ext cx="1883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low but p=0.021 real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8" y="3474720"/>
            <a:ext cx="1883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2468880"/>
            <a:ext cx="2103120" cy="137160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37760" y="2468880"/>
            <a:ext cx="2103120" cy="54864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7488" y="2578608"/>
            <a:ext cx="18836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2D78"/>
                </a:solidFill>
              </a:rPr>
              <a:t>4.3 deaths/mo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7488" y="3182112"/>
            <a:ext cx="1883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90% CI width ≈ ±7.1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3474720"/>
            <a:ext cx="1883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Std Error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2468880"/>
            <a:ext cx="2103120" cy="137160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60" y="2468880"/>
            <a:ext cx="210312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33488" y="2578608"/>
            <a:ext cx="18836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94A3B8"/>
                </a:solidFill>
              </a:rPr>
              <a:t>20.1 deaths/mo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3488" y="3182112"/>
            <a:ext cx="1883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2020–2024 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3488" y="3474720"/>
            <a:ext cx="1883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Hist Mean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0" y="2468880"/>
            <a:ext cx="2103120" cy="137160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09760" y="2468880"/>
            <a:ext cx="210312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19488" y="2578608"/>
            <a:ext cx="18836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94A3B8"/>
                </a:solidFill>
              </a:rPr>
              <a:t>5.8 deaths/mo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19488" y="3182112"/>
            <a:ext cx="1883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natural variability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9488" y="3474720"/>
            <a:ext cx="1883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Hist Std 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114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Alert Thresholds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617720"/>
            <a:ext cx="1463040" cy="338328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" y="4654296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CRITICAL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465429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max_pred &gt; μ + 2σ  (&gt; 31.7)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0" y="4654296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→  Immediate naloxone pre-positioning + outreach surge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047488"/>
            <a:ext cx="1463040" cy="338328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5084064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ELEVATED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08406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max_pred &gt; μ + 1σ  (&gt; 25.9)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0" y="5084064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→  Alert treatment centers + increase mobile harm reduction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477256"/>
            <a:ext cx="1463040" cy="338328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5513832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MODERATE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65960" y="55138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max_pred &gt; μ  (&gt; 20.1)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0" y="5513832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→  Maintain distribution. Monitor arrest trends weekly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907024"/>
            <a:ext cx="1463040" cy="338328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" y="5943600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NORMAL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5960" y="59436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max_pred ≤ 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0" y="59436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→  Standard harm reduction operations sufficient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Flask + ApexCharts · Real-time · Harm-reduction framing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11548872" cy="534924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11548872" cy="41148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6128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117"/>
                </a:solidFill>
              </a:rPr>
              <a:t>🟢  MODERATE — Predicted deaths above average. Standard operations. Monitor weekly.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64208"/>
            <a:ext cx="7132320" cy="3749039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CC"/>
                </a:solidFill>
              </a:rPr>
              <a:t>📈  Drug Arrests vs OD Deaths (2020–2024)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57400"/>
            <a:ext cx="7132320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132320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246120"/>
            <a:ext cx="7132320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7132320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434840"/>
            <a:ext cx="7132320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4114800"/>
            <a:ext cx="749808" cy="36576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25880" y="3566160"/>
            <a:ext cx="749807" cy="36576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57400" y="2926080"/>
            <a:ext cx="749807" cy="36576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88920" y="2560320"/>
            <a:ext cx="749808" cy="36576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20440" y="2560320"/>
            <a:ext cx="749808" cy="36576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3108960"/>
            <a:ext cx="749807" cy="36576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83480" y="3749039"/>
            <a:ext cx="749807" cy="36576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15000" y="3931920"/>
            <a:ext cx="749808" cy="36576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46520" y="3474720"/>
            <a:ext cx="749807" cy="36576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3657600"/>
            <a:ext cx="749808" cy="36576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54480" y="3108960"/>
            <a:ext cx="749808" cy="36576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0" y="2834640"/>
            <a:ext cx="749807" cy="36576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17520" y="2377440"/>
            <a:ext cx="749807" cy="36576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49039" y="2377440"/>
            <a:ext cx="749808" cy="36576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80560" y="2834640"/>
            <a:ext cx="749807" cy="36576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2080" y="3383280"/>
            <a:ext cx="749807" cy="36576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0" y="3657600"/>
            <a:ext cx="749807" cy="36576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75120" y="3200400"/>
            <a:ext cx="749807" cy="36576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513892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2D78"/>
                </a:solidFill>
              </a:rPr>
              <a:t>■ Drug Arrests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513892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FFCC"/>
                </a:solidFill>
              </a:rPr>
              <a:t>■ OD Deaths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513892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★ COVID-19 annotation (Mar 2020)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0" y="1664208"/>
            <a:ext cx="3931920" cy="12801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09560" y="17373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B00"/>
                </a:solidFill>
              </a:rPr>
              <a:t>📊  Forecast: Jan–Apr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20299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21.1  /  20.9  /  21.0  /  21.1  deaths/mo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234086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90% CI: [13.0, 29.2]  ·  std_err = 4.3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9560" y="261518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R² = 0.007  ·  coef = 0.00862  ·  p = 0.021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0" y="3063240"/>
            <a:ext cx="3931920" cy="23500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09560" y="31363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D3FF"/>
                </a:solidFill>
              </a:rPr>
              <a:t>🤖  AI Analyst (Claude Haiku)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18120" y="3474720"/>
            <a:ext cx="3794760" cy="50292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79" y="354787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User: What's driving the 4-month lag?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18120" y="4041648"/>
            <a:ext cx="3794760" cy="68580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55279" y="4114800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</a:rPr>
              <a:t>Claude: "Arrests signal supply disruption. Dealers arrested → street supply drops → users seek alternatives → purity unknown → overdose risk rises ~4 months later..."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09560" y="4846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[ Ask about the forecast... 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" y="6537960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</a:rPr>
              <a:t>Live at  localhost:5000  ·  Flask + SSE streaming  ·  Reverse proxy → Claude Max sub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AI Analyst: Making the Model Explainable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Claude Haiku 4.5 via reverse OAuth proxy — real-time, no extra API cost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737360" cy="146304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73736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1463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</a:rPr>
              <a:t>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</a:rPr>
              <a:t>User
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371600"/>
            <a:ext cx="1737360" cy="146304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0" y="1371600"/>
            <a:ext cx="1737360" cy="54864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463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AB00"/>
                </a:solidFill>
              </a:rPr>
              <a:t>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19202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AB00"/>
                </a:solidFill>
              </a:rPr>
              <a:t>Flask
/chat SSE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1371600"/>
            <a:ext cx="1737360" cy="146304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1371600"/>
            <a:ext cx="1737360" cy="54864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463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FFCC"/>
                </a:solidFill>
              </a:rPr>
              <a:t>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9" y="19202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FCC"/>
                </a:solidFill>
              </a:rPr>
              <a:t>Proxy
:9999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199" y="1371600"/>
            <a:ext cx="1737360" cy="146304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199" y="1371600"/>
            <a:ext cx="1737360" cy="54864"/>
          </a:xfrm>
          <a:prstGeom prst="rect">
            <a:avLst/>
          </a:prstGeom>
          <a:solidFill>
            <a:srgbClr val="60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1463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0D3FF"/>
                </a:solidFill>
              </a:rPr>
              <a:t>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19202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0D3FF"/>
                </a:solidFill>
              </a:rPr>
              <a:t>Claude API
(OAuth)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59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9760" y="1371600"/>
            <a:ext cx="1737360" cy="146304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09760" y="1371600"/>
            <a:ext cx="1737360" cy="54864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95560" y="1463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FFCC"/>
                </a:solidFill>
              </a:rPr>
              <a:t>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19202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FCC"/>
                </a:solidFill>
              </a:rPr>
              <a:t>Streamed
Answer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063240"/>
            <a:ext cx="11274552" cy="196596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063240"/>
            <a:ext cx="45720" cy="1965960"/>
          </a:xfrm>
          <a:prstGeom prst="rect">
            <a:avLst/>
          </a:prstGeom>
          <a:solidFill>
            <a:srgbClr val="60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200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D3FF"/>
                </a:solidFill>
              </a:rPr>
              <a:t>System Prompt: What Claude knows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611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  "You are an AI public health analyst. The dashboard uses a lagged linear regression: arrests[t] → Alcohol-Induced deaths[t+4]. r=0.309, p=0.021, lag=4 months. Historical mean 20.1 deaths/mo (σ=5.8). Current forecast: MODERATE alert. Predictions: Jan 21.1, Feb 20.9, Mar 21.0, Apr 21.1. Help harm reduction officers interpret these numbers. Focus on naloxone pre-positioning and outreach timing."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212080"/>
            <a:ext cx="5394960" cy="1371600"/>
          </a:xfrm>
          <a:prstGeom prst="rect">
            <a:avLst/>
          </a:prstGeom>
          <a:solidFill>
            <a:srgbClr val="0D1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32180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B00"/>
                </a:solidFill>
              </a:rPr>
              <a:t>Q: Should we increase naloxone distribution?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66928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A: Forecast shows MODERATE alert — predictions hover just above the 20.1/mo baseline. Standard distribution is appropriate but I'd pre-stage 15% extra inventory near high-arrest ZIP codes.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0488" y="5212080"/>
            <a:ext cx="5394960" cy="1371600"/>
          </a:xfrm>
          <a:prstGeom prst="rect">
            <a:avLst/>
          </a:prstGeom>
          <a:solidFill>
            <a:srgbClr val="0D1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532180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B00"/>
                </a:solidFill>
              </a:rPr>
              <a:t>Q: How confident should I be in this forecast?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566928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A: The model has R²=0.007 — arrests alone explain only ~1% of death variance. The 4-month signal is real (p=0.021) but noisy. Treat it as one input, not a guarantee. 90% CI is ±7.1 deaths/mo.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2025 Retrospective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Model trained on 2020–2024. Forecast window Jan–Apr 2025 is already past — can we verify?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1457432" cy="640080"/>
          </a:xfrm>
          <a:prstGeom prst="rect">
            <a:avLst/>
          </a:prstGeom>
          <a:solidFill>
            <a:srgbClr val="2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4864" cy="64008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07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AB00"/>
                </a:solidFill>
              </a:rPr>
              <a:t>Challenge: CDC WONDER mortality data lags by 18+ months. Direct cause-specific deaths for 2025 unavailable as of April 2026.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CC"/>
                </a:solidFill>
              </a:rPr>
              <a:t>Solution: CDC VSRR Provisional County Drug Overdose Deaths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31720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Rolling 12-month all-cause OD totals for Jackson County · data.cdc.gov · data_as_of: 2026-01-11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4320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Jackson County — Rolling 12-Month All-Cause OD Deaths (Dec of each year):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505347"/>
            <a:ext cx="1280160" cy="838052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779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FCC"/>
                </a:solidFill>
              </a:rPr>
              <a:t>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2020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63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</a:rPr>
              <a:t>baseline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154975"/>
            <a:ext cx="1280160" cy="1188424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312754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FCC"/>
                </a:solidFill>
              </a:rPr>
              <a:t>251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3891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2021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663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</a:rPr>
              <a:t>+42%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2880360"/>
            <a:ext cx="1280160" cy="146304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28529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2D78"/>
                </a:solidFill>
              </a:rPr>
              <a:t>309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3891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2022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663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</a:rPr>
              <a:t>▲ PEAK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2993994"/>
            <a:ext cx="1280160" cy="134940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296656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</a:rPr>
              <a:t>285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3891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663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</a:rPr>
              <a:t>-8%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3083954"/>
            <a:ext cx="1280160" cy="125944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305652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</a:rPr>
              <a:t>266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43891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4663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</a:rPr>
              <a:t>-7%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074920"/>
            <a:ext cx="11457432" cy="137160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5074920"/>
            <a:ext cx="54864" cy="13716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19379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CC"/>
                </a:solidFill>
              </a:rPr>
              <a:t>Validation Result: DIRECTIONALLY CORRECT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5778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Model forecast MODERATE (no spike expected) for Q1 2025.  VSRR YoY delta for Jan–Apr 2025: −10 deaths vs same period 2024.  Trend 2024: DECLINING.  All-cause monthly rate ≈ 22 deaths/mo — within model 90% CI.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29107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Note: VSRR = all-cause OD; model predicts Alcohol-Induced specifically. YoY delta used as directional proxy only.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What's Novel?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Literature gap + differentiation from prior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577840" cy="521208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57784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4A3B8"/>
                </a:solidFill>
              </a:rPr>
              <a:t>Prior 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✗  Reactive surveillance dashboards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87168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✗  National/state-level aggregation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45536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✗  Crime ↔ OD correlation studies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03904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✗  ML models requiring EMR/EHR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62272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✗  No enforcement-to-mortality lag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20640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✗  No real-time actionable 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188720"/>
            <a:ext cx="5577840" cy="521208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188720"/>
            <a:ext cx="5577840" cy="54864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FFCC"/>
                </a:solidFill>
              </a:rPr>
              <a:t>This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828800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FFCC"/>
                </a:solidFill>
              </a:rPr>
              <a:t>✓  Proactive: 4-month advance warning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87168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FFCC"/>
                </a:solidFill>
              </a:rPr>
              <a:t>✓  County-level (Jackson County, MO)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45536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FFCC"/>
                </a:solidFill>
              </a:rPr>
              <a:t>✓  Arrest → death LEAD-LAG identification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803904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FFCC"/>
                </a:solidFill>
              </a:rPr>
              <a:t>✓  Uses only public data (no patient records)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462272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FFCC"/>
                </a:solidFill>
              </a:rPr>
              <a:t>✓  Quantified: r=0.309, p=0.021, lag=4mo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120640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FFCC"/>
                </a:solidFill>
              </a:rPr>
              <a:t>✓  Actionable harm reduction recommendations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24144" y="36576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2D78"/>
                </a:solidFill>
              </a:rPr>
              <a:t>VS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446520"/>
            <a:ext cx="11457432" cy="347472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cf. Sood (2025) JEPA-based track hack — deep learning approach. This work: interpretable regression + public data, deployable without GPU.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Honest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What the model can and cannot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577840" cy="242316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4864" cy="242316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2D78"/>
                </a:solidFill>
              </a:rPr>
              <a:t>Low R²  (0.007)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Problem: Arrests explain &lt; 1% of death variance. Many confounders: fentanyl supply chains, treatment availability, weather, policy changes.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FFCC"/>
                </a:solidFill>
              </a:rPr>
              <a:t>Mitigation: Use as ONE input signal. Combine with VSRR rolling data and local intelligence.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25880"/>
            <a:ext cx="5577840" cy="242316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325880"/>
            <a:ext cx="54864" cy="24231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173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B00"/>
                </a:solidFill>
              </a:rPr>
              <a:t>Ecological fallacy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Problem: County-level aggregates mask spatial variation. High-arrest ZIP codes may differ from high-OD ZIP codes.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8036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FFCC"/>
                </a:solidFill>
              </a:rPr>
              <a:t>Mitigation: Phase 2: disaggregate to ZIP/precinct level with KCPD beat data.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77639"/>
            <a:ext cx="5577840" cy="242316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977639"/>
            <a:ext cx="54864" cy="24231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06907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B00"/>
                </a:solidFill>
              </a:rPr>
              <a:t>All-cause validation proxy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80559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Problem: CDC VSRR is all-cause OD deaths; model targets Alcohol-Induced specifically. Directional validation only — not magnitude-verified.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3212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FFCC"/>
                </a:solidFill>
              </a:rPr>
              <a:t>Mitigation: Await full 2025 CDC WONDER release (est. late 2026) for cause-specific verification.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977639"/>
            <a:ext cx="5577840" cy="242316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977639"/>
            <a:ext cx="54864" cy="24231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06907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</a:rPr>
              <a:t>Linear model assumed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480559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Problem: Assumes stable linear relationship. Supply shocks (e.g., xylazine emergence) can break historical patterns non-linearly.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53212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FFCC"/>
                </a:solidFill>
              </a:rPr>
              <a:t>Mitigation: Add anomaly detection; retrain quarterly as new KCPD data arrives.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Technical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All open-source · No proprietary data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57432" cy="150876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" cy="150876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2D78"/>
                </a:solidFill>
              </a:rPr>
              <a:t>Data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 KCPD Socrata API  (socrata.kcpd.org / Open Data KC)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9" y="18288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 CDC WONDER D157  (wonder.cdc.gov — monthly MCD, ICD-10 T36-T65)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0428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 CDC VSRR Provisional  (data.cdc.gov/resource/gb4e-yj24.json)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59" y="230428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 pandas  ·  NumPy  ·  scipy.signal.correlate  ·  scipy.stats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63240"/>
            <a:ext cx="11457432" cy="150876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063240"/>
            <a:ext cx="54864" cy="1508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54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B00"/>
                </a:solidFill>
              </a:rPr>
              <a:t>Model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204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 sklearn.linear_model.LinearRegression  (lagged regression)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59" y="35204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 4-month horizon forecast  ·  90% CI from residual std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9592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 Cross-correlation function (CCF) for lag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59" y="399592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 Alert thresholds: μ, μ+σ, μ+2σ band 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754880"/>
            <a:ext cx="11457432" cy="150876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754880"/>
            <a:ext cx="54864" cy="150876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CC"/>
                </a:solidFill>
              </a:rPr>
              <a:t>App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120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 Flask 3.x  ·  Server-Sent Events (SSE) for streaming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59" y="52120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 ApexCharts.js  ·  Tailwind CSS  ·  dark-mode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8756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 Claude Haiku 4.5  via  claude_proxy_v5.py  (port 9999)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59" y="568756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·  OAuth token from ~/.claude/.credentials.json (Claude Max sub)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9224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</a:rPr>
              <a:t>Fully reproducible from public APIs  ·  Python 3.10  ·  No GPU required  ·  Runs on any laptop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Future Work &amp; Generalizability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From proof-of-concept to operational harm reduction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577840" cy="237744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4864" cy="237744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2D78"/>
                </a:solidFill>
              </a:rPr>
              <a:t>📍  ZIP-Level Disaggregation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Disaggregate KCPD arrests by precinct/beat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500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Map predicted hotspots for naloxone pre-positioning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2549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Integrate KCMO health dept outreach zone boundaries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577840" cy="237744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4864" cy="237744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898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B00"/>
                </a:solidFill>
              </a:rPr>
              <a:t>📊  Multivariate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74519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Add: naloxone administration data (KCFD EMS runs)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500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Add: fentanyl test strip distribution 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82549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Ensemble: combine enforcement + treatment + weather signals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31920"/>
            <a:ext cx="5577840" cy="237744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931920"/>
            <a:ext cx="54864" cy="237744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416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CC"/>
                </a:solidFill>
              </a:rPr>
              <a:t>🧠  Retraining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262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Auto-ingest monthly KCPD + VSRR updates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017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Quarterly model refit with anomaly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47725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Xylazine / adulterant emergence detection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931920"/>
            <a:ext cx="5577840" cy="237744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931920"/>
            <a:ext cx="54864" cy="2377440"/>
          </a:xfrm>
          <a:prstGeom prst="rect">
            <a:avLst/>
          </a:prstGeom>
          <a:solidFill>
            <a:srgbClr val="A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0416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80FF"/>
                </a:solidFill>
              </a:rPr>
              <a:t>🌐  Generalizability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5262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Test in St. Louis, Memphis, Indianapolis — same data APIs available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0017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CDC WONDER + local Socrata = reproducible in any US county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47725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Target: Harm Reduction Coalition partner cities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CC"/>
                </a:solidFill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We
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</a:rPr>
              <a:t>AI-Powered
Overdose Early
Warning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91840"/>
            <a:ext cx="37490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Murali Ediga
University of Missouri · CS 5542
NSF NRT Researchathon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91440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Key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463040"/>
            <a:ext cx="7040880" cy="82296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463040"/>
            <a:ext cx="54864" cy="82296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50876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2D78"/>
                </a:solidFill>
              </a:rPr>
              <a:t>r = 0.309, p = 0.021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847088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Drug arrests lead Alcohol-Induced OD deaths by 4 months — statistically significant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2423160"/>
            <a:ext cx="7040880" cy="82296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2423160"/>
            <a:ext cx="54864" cy="82296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246888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CC"/>
                </a:solidFill>
              </a:rPr>
              <a:t>Model validated on 2025 actuals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807208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VSRR data confirms MODERATE prediction — YoY delta −10 deaths, no spike occurred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3383280"/>
            <a:ext cx="7040880" cy="82296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3383280"/>
            <a:ext cx="54864" cy="8229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342900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B00"/>
                </a:solidFill>
              </a:rPr>
              <a:t>Live dashboard deployed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767328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Flask + ApexCharts + Claude AI analyst — harm reduction officers can query in natural language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4343400"/>
            <a:ext cx="7040880" cy="82296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0" y="4343400"/>
            <a:ext cx="54864" cy="822960"/>
          </a:xfrm>
          <a:prstGeom prst="rect">
            <a:avLst/>
          </a:prstGeom>
          <a:solidFill>
            <a:srgbClr val="A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438912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80FF"/>
                </a:solidFill>
              </a:rPr>
              <a:t>Zero proprietary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727448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Reproducible in any US county using CDC WONDER + local Socrata arrest API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5303520"/>
            <a:ext cx="7040880" cy="82296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54880" y="5303520"/>
            <a:ext cx="54864" cy="8229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534924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</a:rPr>
              <a:t>Honest about limits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5687568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R²=0.007 — signal is real but weak. Designed as decision-support, not oracle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6309360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Thank you  ·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