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>
                <a:solidFill>
                  <a:srgbClr val="1A335C"/>
                </a:solidFill>
              </a:rPr>
              <a:t>MelodyLeak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00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C0392B"/>
                </a:solidFill>
              </a:rPr>
              <a:t>Foundation-Model Music as a Covert Speech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7548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335C"/>
                </a:solidFill>
              </a:rPr>
              <a:t>Murali Krishna Ediga</a:t>
            </a:r>
          </a:p>
          <a:p>
            <a:pPr algn="l"/>
            <a:r>
              <a:rPr sz="1800" b="0">
                <a:solidFill>
                  <a:srgbClr val="555555"/>
                </a:solidFill>
              </a:rPr>
              <a:t>CS 5542 — Big Data Analytics &amp; AI · Spring 2026</a:t>
            </a:r>
          </a:p>
          <a:p>
            <a:pPr algn="l"/>
            <a:r>
              <a:rPr sz="1600" b="0">
                <a:solidFill>
                  <a:srgbClr val="555555"/>
                </a:solidFill>
              </a:rPr>
              <a:t>University of Missouri — Kansas City · Quiz Challenge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35C"/>
                </a:solidFill>
              </a:rPr>
              <a:t>Problem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335C"/>
                </a:solidFill>
              </a:rPr>
              <a:t>Generative audio foundation models are now production-grade in BOTH directions: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A335C"/>
                </a:solidFill>
              </a:rPr>
              <a:t>•  Generate music + speech: MusicGen, SpeechT5, AudioLDM2, Bark</a:t>
            </a:r>
          </a:p>
          <a:p>
            <a:pPr algn="l"/>
            <a:r>
              <a:rPr sz="2000" b="0">
                <a:solidFill>
                  <a:srgbClr val="1A335C"/>
                </a:solidFill>
              </a:rPr>
              <a:t>•  Transcribe speech: Whisper, wav2vec2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335C"/>
                </a:solidFill>
              </a:rPr>
              <a:t>Can a single pipeline use both ends to smuggle a hidden message inside generated music?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</a:rPr>
              <a:t>Why it matters: as generative-AI audio proliferates online, content provenance and covert-channel detection become open security problems. Demonstrating channels of this kind is a prerequisite to building defences.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35C"/>
                </a:solidFill>
              </a:rPr>
              <a:t>Models used  —  HuggingFace, inference only, no fine-tuning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206240"/>
                <a:gridCol w="1280160"/>
                <a:gridCol w="2651760"/>
              </a:tblGrid>
              <a:tr h="65836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A335C"/>
                          </a:solidFill>
                        </a:rP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A335C"/>
                          </a:solidFill>
                        </a:rPr>
                        <a:t>HuggingFace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555555"/>
                          </a:solidFill>
                        </a:rPr>
                        <a:t>Params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A335C"/>
                          </a:solidFill>
                        </a:rPr>
                        <a:t>License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TTS  (Vector A encoder)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microsoft/speecht5_tts + speecht5_hifigan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144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MIT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Carrier  (both vectors)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facebook/musicgen-small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300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CC-BY-NC-4.0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Decoder  (Vector 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openai/whisper-base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MIT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Decoder + perceptual  (Vector 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laion/clap-htsat-unfused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153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CC0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93776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0392B"/>
                </a:solidFill>
              </a:rPr>
              <a:t>Footprint: ~3.4 GB VRAM total on float32. Single RTX 5080 runs everything live.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5778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All training was done by the model authors. No data of mine touches model weights.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35C"/>
                </a:solidFill>
              </a:rPr>
              <a:t>Two-vector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55555"/>
                </a:solidFill>
              </a:rPr>
              <a:t>Same secret routed through two complementary channels that share a MusicGen carrier.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Vector A — semantic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335C"/>
                </a:solidFill>
              </a:rPr>
              <a:t>secret text</a:t>
            </a:r>
          </a:p>
          <a:p>
            <a:pPr algn="l"/>
            <a:r>
              <a:rPr sz="1800" b="0">
                <a:solidFill>
                  <a:srgbClr val="1A335C"/>
                </a:solidFill>
              </a:rPr>
              <a:t>↓</a:t>
            </a:r>
          </a:p>
          <a:p>
            <a:pPr algn="l"/>
            <a:r>
              <a:rPr sz="1600" b="0">
                <a:solidFill>
                  <a:srgbClr val="1A335C"/>
                </a:solidFill>
              </a:rPr>
              <a:t>SpeechT5 → vocals (16 kHz)</a:t>
            </a:r>
          </a:p>
          <a:p>
            <a:pPr algn="l"/>
            <a:r>
              <a:rPr sz="1600" b="0">
                <a:solidFill>
                  <a:srgbClr val="1A335C"/>
                </a:solidFill>
              </a:rPr>
              <a:t>MusicGen → carrier (32 kHz, resampled)</a:t>
            </a:r>
          </a:p>
          <a:p>
            <a:pPr algn="l"/>
            <a:r>
              <a:rPr sz="1600" b="0">
                <a:solidFill>
                  <a:srgbClr val="1A335C"/>
                </a:solidFill>
              </a:rPr>
              <a:t>↓ mix at gain α</a:t>
            </a:r>
          </a:p>
          <a:p>
            <a:pPr algn="l"/>
            <a:r>
              <a:rPr sz="1800" b="0">
                <a:solidFill>
                  <a:srgbClr val="1A335C"/>
                </a:solidFill>
              </a:rPr>
              <a:t>↓</a:t>
            </a:r>
          </a:p>
          <a:p>
            <a:pPr algn="l"/>
            <a:r>
              <a:rPr sz="1600" b="1">
                <a:solidFill>
                  <a:srgbClr val="1A335C"/>
                </a:solidFill>
              </a:rPr>
              <a:t>Whisper-base → recovered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607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high bandwidth (~5–10 bps)  ·  fragile to gain attenuation  ·  audible to humans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Vector B — categorical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834640"/>
            <a:ext cx="5486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335C"/>
                </a:solidFill>
              </a:rPr>
              <a:t>secret bits (2 bits per clip)</a:t>
            </a:r>
          </a:p>
          <a:p>
            <a:pPr algn="l"/>
            <a:r>
              <a:rPr sz="1800" b="0">
                <a:solidFill>
                  <a:srgbClr val="1A335C"/>
                </a:solidFill>
              </a:rPr>
              <a:t>↓</a:t>
            </a:r>
          </a:p>
          <a:p>
            <a:pPr algn="l"/>
            <a:r>
              <a:rPr sz="1600" b="0">
                <a:solidFill>
                  <a:srgbClr val="1A335C"/>
                </a:solidFill>
              </a:rPr>
              <a:t>MusicGen with prompt from a 4-class codebook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(mood × tempo)</a:t>
            </a:r>
          </a:p>
          <a:p>
            <a:pPr algn="l"/>
            <a:r>
              <a:rPr sz="1800" b="0">
                <a:solidFill>
                  <a:srgbClr val="1A335C"/>
                </a:solidFill>
              </a:rPr>
              <a:t>↓</a:t>
            </a:r>
          </a:p>
          <a:p>
            <a:pPr algn="l"/>
            <a:r>
              <a:rPr sz="1600" b="0">
                <a:solidFill>
                  <a:srgbClr val="1A335C"/>
                </a:solidFill>
              </a:rPr>
              <a:t>CLAP cosine to anchor prompts → argmax</a:t>
            </a:r>
          </a:p>
          <a:p>
            <a:pPr algn="l"/>
            <a:r>
              <a:rPr sz="1600" b="1">
                <a:solidFill>
                  <a:srgbClr val="1A335C"/>
                </a:solidFill>
              </a:rPr>
              <a:t>→ recovered bits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607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low bandwidth (~0.33 bps)  ·  robust to MP3 / time-stretch  ·  carrier looks like normal music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35C"/>
                </a:solidFill>
              </a:rPr>
              <a:t>Prompt / input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Vector A — two mix variants compared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335C"/>
                </a:solidFill>
              </a:rPr>
              <a:t>•  flat: full-band TTS vocals + music   (baseline)</a:t>
            </a:r>
          </a:p>
          <a:p>
            <a:pPr algn="l"/>
            <a:r>
              <a:rPr sz="1800" b="0">
                <a:solidFill>
                  <a:srgbClr val="1A335C"/>
                </a:solidFill>
              </a:rPr>
              <a:t>•  bandpass: TTS vocals filtered to 300–3400 Hz before mixing  (improved hypothesis)</a:t>
            </a:r>
          </a:p>
          <a:p>
            <a:pPr algn="l"/>
            <a:r>
              <a:rPr sz="1600" b="0">
                <a:solidFill>
                  <a:srgbClr val="555555"/>
                </a:solidFill>
              </a:rPr>
              <a:t>Hypothesis: telephone-band vocals match Whisper's training distribution → lower WER at same loudness.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49039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C0392B"/>
                </a:solidFill>
              </a:rPr>
              <a:t>Vector B — 4-prompt codebook over mood × tempo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4389120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9784080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A335C"/>
                          </a:solidFill>
                        </a:rPr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A335C"/>
                          </a:solidFill>
                        </a:rPr>
                        <a:t>prompt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happy upbeat acoustic guitar pop, 140 bpm, major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happy warm soft acoustic guitar, 60 bpm, major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sad melancholic piano, 140 bpm, minor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335C"/>
                          </a:solidFill>
                        </a:rPr>
                        <a:t>sad melancholic piano, 60 bpm, minor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35C"/>
                </a:solidFill>
              </a:rPr>
              <a:t>Vector A results — WER vs α</a:t>
            </a:r>
          </a:p>
        </p:txBody>
      </p:sp>
      <p:pic>
        <p:nvPicPr>
          <p:cNvPr id="3" name="Picture 2" descr="01_wer_vs_al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7680960" cy="5314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128016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0392B"/>
                </a:solidFill>
              </a:rPr>
              <a:t>Findings</a:t>
            </a:r>
          </a:p>
          <a:p>
            <a:pPr algn="l"/>
            <a:r>
              <a:rPr sz="1400" b="0">
                <a:solidFill>
                  <a:srgbClr val="1A335C"/>
                </a:solidFill>
              </a:rPr>
              <a:t>•  Ambient is the most permissive carrier — WER ≈ 0.18 across the entire α range (-6 to -30 dB).</a:t>
            </a:r>
          </a:p>
          <a:p>
            <a:pPr algn="l"/>
            <a:r>
              <a:rPr sz="1400" b="0">
                <a:solidFill>
                  <a:srgbClr val="1A335C"/>
                </a:solidFill>
              </a:rPr>
              <a:t>•  Classical is the worst — WER explodes past α=-18 dB; string formants compete with vocals in-band.</a:t>
            </a:r>
          </a:p>
          <a:p>
            <a:pPr algn="l"/>
            <a:r>
              <a:rPr sz="1400" b="0">
                <a:solidFill>
                  <a:srgbClr val="1A335C"/>
                </a:solidFill>
              </a:rPr>
              <a:t>•  Lo-fi sits between — usable until α=-30 dB.</a:t>
            </a:r>
          </a:p>
          <a:p>
            <a:pPr algn="l"/>
            <a:r>
              <a:rPr sz="1800" b="1">
                <a:solidFill>
                  <a:srgbClr val="C0392B"/>
                </a:solidFill>
              </a:rPr>
              <a:t>Insight</a:t>
            </a:r>
          </a:p>
          <a:p>
            <a:pPr algn="l"/>
            <a:r>
              <a:rPr sz="1400" b="0">
                <a:solidFill>
                  <a:srgbClr val="1A335C"/>
                </a:solidFill>
              </a:rPr>
              <a:t>Carrier choice matters as much as gain level.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n=45 runs (3 prompts × 5 α × 3 secrets)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35C"/>
                </a:solidFill>
              </a:rPr>
              <a:t>Vector A — bandpass surprise (counter-hypothesis result)</a:t>
            </a:r>
          </a:p>
        </p:txBody>
      </p:sp>
      <p:pic>
        <p:nvPicPr>
          <p:cNvPr id="3" name="Picture 2" descr="02_flat_vs_band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7680960" cy="53146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128016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0392B"/>
                </a:solidFill>
              </a:rPr>
              <a:t>Hypothesis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Bandpass-shaping vocals (300–3400 Hz, telephone band) should reduce WER at the same loudness.</a:t>
            </a:r>
          </a:p>
          <a:p>
            <a:pPr algn="l"/>
            <a:r>
              <a:rPr sz="1800" b="1">
                <a:solidFill>
                  <a:srgbClr val="C0392B"/>
                </a:solidFill>
              </a:rPr>
              <a:t>Result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Bandpass HURTS — classical (0.51 → 1.78), lo-fi (0.16 → 0.32). Only ambient is roughly neutral.</a:t>
            </a:r>
          </a:p>
          <a:p>
            <a:pPr algn="l"/>
            <a:r>
              <a:rPr sz="1800" b="1">
                <a:solidFill>
                  <a:srgbClr val="C0392B"/>
                </a:solidFill>
              </a:rPr>
              <a:t>Interpretation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Whisper relies on out-of-band fricatives (sibilants /s/, /sh/ above 3.4 kHz) that the filter strips.</a:t>
            </a:r>
          </a:p>
          <a:p>
            <a:pPr algn="l"/>
            <a:r>
              <a:rPr sz="1300" b="1">
                <a:solidFill>
                  <a:srgbClr val="1A335C"/>
                </a:solidFill>
              </a:rPr>
              <a:t>The 'improvement' backfires.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35C"/>
                </a:solidFill>
              </a:rPr>
              <a:t>Vector B — BER under codec / noise / time-stretch</a:t>
            </a:r>
          </a:p>
        </p:txBody>
      </p:sp>
      <p:pic>
        <p:nvPicPr>
          <p:cNvPr id="3" name="Picture 2" descr="03_ber_vs_distor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7680960" cy="51229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128016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0392B"/>
                </a:solidFill>
              </a:rPr>
              <a:t>Headline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BER flat at 0.20 through MP3 (320/192/128 kbps), time-stretch ±5%, AWGN 30dB. Only AWGN 10dB pushes BER higher.</a:t>
            </a:r>
          </a:p>
          <a:p>
            <a:pPr algn="l"/>
            <a:r>
              <a:rPr sz="1800" b="1">
                <a:solidFill>
                  <a:srgbClr val="C0392B"/>
                </a:solidFill>
              </a:rPr>
              <a:t>Why 0.20?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Confusion matrix (clean): CLAP perfectly discriminates mood (happy vs sad, 0% conf) but is tempo-blind — all slow prompts get classified as fast.</a:t>
            </a:r>
          </a:p>
          <a:p>
            <a:pPr algn="l"/>
            <a:r>
              <a:rPr sz="1800" b="1">
                <a:solidFill>
                  <a:srgbClr val="C0392B"/>
                </a:solidFill>
              </a:rPr>
              <a:t>Implication</a:t>
            </a:r>
          </a:p>
          <a:p>
            <a:pPr algn="l"/>
            <a:r>
              <a:rPr sz="1300" b="1">
                <a:solidFill>
                  <a:srgbClr val="1A335C"/>
                </a:solidFill>
              </a:rPr>
              <a:t>A 1-bit mood-only codebook would give BER = 0 — capacity halves, robustness jumps.</a:t>
            </a:r>
          </a:p>
          <a:p>
            <a:pPr algn="l"/>
            <a:r>
              <a:rPr sz="1100" b="0">
                <a:solidFill>
                  <a:srgbClr val="555555"/>
                </a:solidFill>
              </a:rPr>
              <a:t>n=140 decodes (20 clips × 7 distortions)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35C"/>
                </a:solidFill>
              </a:rPr>
              <a:t>Cross-evaluation — dual failure modes</a:t>
            </a:r>
          </a:p>
        </p:txBody>
      </p:sp>
      <p:pic>
        <p:nvPicPr>
          <p:cNvPr id="3" name="Picture 2" descr="04_cross_eval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7680960" cy="51432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128016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0392B"/>
                </a:solidFill>
              </a:rPr>
              <a:t>Vector A (red)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~50 bps speech, WER from 0.17 (α=-6) to 0.83 (α=-30). Fragile to gain attenuation.</a:t>
            </a:r>
          </a:p>
          <a:p>
            <a:pPr algn="l"/>
            <a:r>
              <a:rPr sz="1800" b="1">
                <a:solidFill>
                  <a:srgbClr val="C0392B"/>
                </a:solidFill>
              </a:rPr>
              <a:t>Vector B (blue)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~0.33 bps, BER 0.20 across all codec/time-stretch conditions. Fragile to noise but not codec.</a:t>
            </a:r>
          </a:p>
          <a:p>
            <a:pPr algn="l"/>
            <a:r>
              <a:rPr sz="1800" b="1">
                <a:solidFill>
                  <a:srgbClr val="C0392B"/>
                </a:solidFill>
              </a:rPr>
              <a:t>Insight</a:t>
            </a:r>
          </a:p>
          <a:p>
            <a:pPr algn="l"/>
            <a:r>
              <a:rPr sz="1300" b="1">
                <a:solidFill>
                  <a:srgbClr val="1A335C"/>
                </a:solidFill>
              </a:rPr>
              <a:t>The two vectors fail in opposite directions. A defence that catches one does NOT catch the other. Defending generative-AI audio covert channels requires more than one detector.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35C"/>
                </a:solidFill>
              </a:rPr>
              <a:t>Listening test — Vector A is not perceptually covert</a:t>
            </a:r>
          </a:p>
        </p:txBody>
      </p:sp>
      <p:pic>
        <p:nvPicPr>
          <p:cNvPr id="3" name="Picture 2" descr="05_listening_m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97280"/>
            <a:ext cx="7680960" cy="4788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128016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0392B"/>
                </a:solidFill>
              </a:rPr>
              <a:t>Setup</a:t>
            </a:r>
          </a:p>
          <a:p>
            <a:pPr algn="l"/>
            <a:r>
              <a:rPr sz="1200" b="0">
                <a:solidFill>
                  <a:srgbClr val="1A335C"/>
                </a:solidFill>
              </a:rPr>
              <a:t>n=1 self-rated, not formally blinded. Listener had not memorized the secret texts before listening.</a:t>
            </a:r>
          </a:p>
          <a:p>
            <a:pPr algn="l"/>
            <a:r>
              <a:rPr sz="1800" b="1">
                <a:solidFill>
                  <a:srgbClr val="C0392B"/>
                </a:solidFill>
              </a:rPr>
              <a:t>Headline result</a:t>
            </a:r>
          </a:p>
          <a:p>
            <a:pPr algn="l"/>
            <a:r>
              <a:rPr sz="1200" b="1">
                <a:solidFill>
                  <a:srgbClr val="1A335C"/>
                </a:solidFill>
              </a:rPr>
              <a:t>Listener recovered 'the quick brown fox jumps over the lazy dog' VERBATIM from clips at α=-6, -18, -30 dB and the bandpass variant — without prior memorisation.</a:t>
            </a:r>
          </a:p>
          <a:p>
            <a:pPr algn="l"/>
            <a:r>
              <a:rPr sz="1400" b="1">
                <a:solidFill>
                  <a:srgbClr val="C0392B"/>
                </a:solidFill>
              </a:rPr>
              <a:t>Vector A is not covert at any tested setting.</a:t>
            </a:r>
          </a:p>
          <a:p>
            <a:pPr algn="l"/>
            <a:r>
              <a:rPr sz="1800" b="1">
                <a:solidFill>
                  <a:srgbClr val="C0392B"/>
                </a:solidFill>
              </a:rPr>
              <a:t>Music vs speech</a:t>
            </a:r>
          </a:p>
          <a:p>
            <a:pPr algn="l"/>
            <a:r>
              <a:rPr sz="1200" b="0">
                <a:solidFill>
                  <a:srgbClr val="1A335C"/>
                </a:solidFill>
              </a:rPr>
              <a:t>Music quality drops 5 → 1 with vocals at α=-6; recovers to 3 at α=-30 (loud vocals destroy the cover).</a:t>
            </a:r>
          </a:p>
          <a:p>
            <a:pPr algn="l"/>
            <a:r>
              <a:rPr sz="1800" b="1">
                <a:solidFill>
                  <a:srgbClr val="C0392B"/>
                </a:solidFill>
              </a:rPr>
              <a:t>Vector B sanity check</a:t>
            </a:r>
          </a:p>
          <a:p>
            <a:pPr algn="l"/>
            <a:r>
              <a:rPr sz="1200" b="0">
                <a:solidFill>
                  <a:srgbClr val="1A335C"/>
                </a:solidFill>
              </a:rPr>
              <a:t>Clean carriers rated 5/5 music, 1/5 speech — confirms B has no leaked speech.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335C"/>
                </a:solidFill>
              </a:rPr>
              <a:t>Limitations  ·  Ethics  ·  Future work  ·  AI disclosure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0392B"/>
                </a:solidFill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335C"/>
                </a:solidFill>
              </a:rPr>
              <a:t>•  Listening test n=1 self-rated, not formally blinded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•  English-only secrets, single TTS speaker (CMU Arctic xvector idx 7306)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•  Single carrier model (MusicGen-small)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•  No active steganalysis tested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•  3 secrets × 3 prompts × 5 α — small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0392B"/>
                </a:solidFill>
              </a:rPr>
              <a:t>Ethics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2628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335C"/>
                </a:solidFill>
              </a:rPr>
              <a:t>•  Demonstration of a covert channel as a prerequisite for DEFENSIVE research.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•  Vector A is detectable by attentive listeners — NOT perceptually-secure stego.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•  Vector B leaks via prompt-distribution biases over a session.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•  Framed as measurement of attack surface, not deployment guide.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0392B"/>
                </a:solidFill>
              </a:rPr>
              <a:t>Future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9164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335C"/>
                </a:solidFill>
              </a:rPr>
              <a:t>1.  Adversarial perturbation of MusicGen output to fool Whisper while preserving human listening.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2.  Mood-only 1-bit Vector B + redundancy coding for near-zero BER.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3.  Detection: train a classifier on (clean MusicGen) vs (vocal-mixed MusicGen).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931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0392B"/>
                </a:solidFill>
              </a:rPr>
              <a:t>AI tools disclosure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52628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335C"/>
                </a:solidFill>
              </a:rPr>
              <a:t>•  Anthropic Claude (Opus 4.7) — adversarial design review, code scaffolding, slide outline. Specific decisions logged in AI_DISCLOSURE.md.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•  HuggingFace pretrained models — inference only.</a:t>
            </a:r>
          </a:p>
          <a:p>
            <a:pPr algn="l"/>
            <a:r>
              <a:rPr sz="1300" b="0">
                <a:solidFill>
                  <a:srgbClr val="1A335C"/>
                </a:solidFill>
              </a:rPr>
              <a:t>•  No model trained or fine-tuned by 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335C"/>
                </a:solidFill>
              </a:rPr>
              <a:t>Repo: github.com/muralikrish9/CS5542 — QuizChallenge2/  ·  Code, eval CSVs, plots, audio samples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